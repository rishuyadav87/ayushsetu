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Team ID from the SIH portal and confirm the theme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features on this slide are implemented and demoed from the running prototype. Camera, voice and screen AI run in the browser; no video stream is uploaded, only violation snapshots.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3b48ef2-96cd-543d-88a0-c23a639d3fc8/scratchpad/ref/assets/tenet_logo_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57200"/>
            <a:ext cx="4937760" cy="1336697"/>
          </a:xfrm>
          <a:prstGeom prst="rect">
            <a:avLst/>
          </a:prstGeom>
        </p:spPr>
      </p:pic>
      <p:pic>
        <p:nvPicPr>
          <p:cNvPr id="3" name="Image 1" descr="/tmp/claude-0/-home-claude/93b48ef2-96cd-543d-88a0-c23a639d3fc8/scratchpad/ref/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680" y="73152"/>
            <a:ext cx="3337560" cy="157655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5400000">
            <a:off x="11155680" y="3063240"/>
            <a:ext cx="6949440" cy="5852160"/>
          </a:xfrm>
          <a:prstGeom prst="hexagon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 rot="5400000">
            <a:off x="11292840" y="1737360"/>
            <a:ext cx="3108960" cy="2651760"/>
          </a:xfrm>
          <a:prstGeom prst="hexagon">
            <a:avLst/>
          </a:prstGeom>
          <a:ln w="76200">
            <a:solidFill>
              <a:srgbClr val="E4E4E4"/>
            </a:solidFill>
            <a:prstDash val="solid"/>
          </a:ln>
        </p:spPr>
      </p:sp>
      <p:pic>
        <p:nvPicPr>
          <p:cNvPr id="6" name="Image 2" descr="/tmp/claude-0/-home-claude/93b48ef2-96cd-543d-88a0-c23a639d3fc8/scratchpad/ref/assets/sih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040" y="3246120"/>
            <a:ext cx="3931920" cy="5185177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 ·  GRAND SUBMISSION</a:t>
            </a:r>
            <a:endParaRPr lang="en-US" sz="21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2468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AYUSH-SETU</a:t>
            </a:r>
            <a:endParaRPr lang="en-US" sz="96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39776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208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· One Ecosystem for skill mapping, AI-proctored NSQF assessments, internships &amp; placements across the six Ayush systems</a:t>
            </a:r>
            <a:endParaRPr lang="en-US" sz="2300" dirty="0"/>
          </a:p>
        </p:txBody>
      </p:sp>
      <p:sp>
        <p:nvSpPr>
          <p:cNvPr id="10" name="Shape 5"/>
          <p:cNvSpPr/>
          <p:nvPr/>
        </p:nvSpPr>
        <p:spPr>
          <a:xfrm>
            <a:off x="731520" y="5029200"/>
            <a:ext cx="1490472" cy="502920"/>
          </a:xfrm>
          <a:prstGeom prst="roundRect">
            <a:avLst>
              <a:gd name="adj" fmla="val 49091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 txBox="1"/>
          <p:nvPr/>
        </p:nvSpPr>
        <p:spPr>
          <a:xfrm>
            <a:off x="731520" y="502920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8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Ayurveda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2359152" y="5029200"/>
            <a:ext cx="2724912" cy="502920"/>
          </a:xfrm>
          <a:prstGeom prst="roundRect">
            <a:avLst>
              <a:gd name="adj" fmla="val 49091"/>
            </a:avLst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2359152" y="502920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&amp; Naturopathy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221224" y="5029200"/>
            <a:ext cx="1120140" cy="502920"/>
          </a:xfrm>
          <a:prstGeom prst="roundRect">
            <a:avLst>
              <a:gd name="adj" fmla="val 49091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5221224" y="5029200"/>
            <a:ext cx="1120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8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Unani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78524" y="5029200"/>
            <a:ext cx="1243584" cy="502920"/>
          </a:xfrm>
          <a:prstGeom prst="roundRect">
            <a:avLst>
              <a:gd name="adj" fmla="val 49091"/>
            </a:avLst>
          </a:prstGeom>
          <a:solidFill>
            <a:srgbClr val="EEF6E0"/>
          </a:solidFill>
          <a:ln w="12700">
            <a:solidFill>
              <a:srgbClr val="EEF6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478524" y="502920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7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Siddha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859268" y="502920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859268" y="5029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Sowa-Rigpa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9733788" y="5029200"/>
            <a:ext cx="1860804" cy="502920"/>
          </a:xfrm>
          <a:prstGeom prst="roundRect">
            <a:avLst>
              <a:gd name="adj" fmla="val 49091"/>
            </a:avLst>
          </a:prstGeom>
          <a:solidFill>
            <a:srgbClr val="E3EEF8"/>
          </a:solidFill>
          <a:ln w="12700">
            <a:solidFill>
              <a:srgbClr val="E3EEF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9733788" y="5029200"/>
            <a:ext cx="18608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Homoeopathy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31520" y="5760720"/>
            <a:ext cx="11795760" cy="3977640"/>
          </a:xfrm>
          <a:prstGeom prst="roundRect">
            <a:avLst>
              <a:gd name="adj" fmla="val 6897"/>
            </a:avLst>
          </a:prstGeom>
          <a:solidFill>
            <a:srgbClr val="FFF0DC"/>
          </a:solidFill>
          <a:ln w="12700">
            <a:solidFill>
              <a:srgbClr val="F1DFC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1143000" y="5989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1143000" y="62819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SIH26044</a:t>
            </a:r>
            <a:endParaRPr lang="en-US" sz="2300" dirty="0"/>
          </a:p>
        </p:txBody>
      </p:sp>
      <p:sp>
        <p:nvSpPr>
          <p:cNvPr id="25" name="Text 20"/>
          <p:cNvSpPr txBox="1"/>
          <p:nvPr/>
        </p:nvSpPr>
        <p:spPr>
          <a:xfrm>
            <a:off x="6949440" y="5989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949440" y="62819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Automation</a:t>
            </a:r>
            <a:endParaRPr lang="en-US" sz="230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" y="69037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143000" y="71963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for Academia–Industry collaboration for Skill Mapping, Internships and Placement</a:t>
            </a:r>
            <a:endParaRPr lang="en-US" sz="1900" dirty="0"/>
          </a:p>
        </p:txBody>
      </p:sp>
      <p:sp>
        <p:nvSpPr>
          <p:cNvPr id="29" name="Text 24"/>
          <p:cNvSpPr txBox="1"/>
          <p:nvPr/>
        </p:nvSpPr>
        <p:spPr>
          <a:xfrm>
            <a:off x="1143000" y="78181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143000" y="81107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Ayush</a:t>
            </a:r>
            <a:endParaRPr lang="en-US" sz="2300" dirty="0"/>
          </a:p>
        </p:txBody>
      </p:sp>
      <p:sp>
        <p:nvSpPr>
          <p:cNvPr id="31" name="Text 26"/>
          <p:cNvSpPr txBox="1"/>
          <p:nvPr/>
        </p:nvSpPr>
        <p:spPr>
          <a:xfrm>
            <a:off x="6949440" y="78181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6949440" y="81107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300" dirty="0"/>
          </a:p>
        </p:txBody>
      </p:sp>
      <p:sp>
        <p:nvSpPr>
          <p:cNvPr id="33" name="Text 28"/>
          <p:cNvSpPr txBox="1"/>
          <p:nvPr/>
        </p:nvSpPr>
        <p:spPr>
          <a:xfrm>
            <a:off x="1143000" y="8732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1143000" y="90251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</a:t>
            </a:r>
            <a:endParaRPr lang="en-US" sz="2300" dirty="0"/>
          </a:p>
        </p:txBody>
      </p:sp>
      <p:sp>
        <p:nvSpPr>
          <p:cNvPr id="35" name="Text 30"/>
          <p:cNvSpPr txBox="1"/>
          <p:nvPr/>
        </p:nvSpPr>
        <p:spPr>
          <a:xfrm>
            <a:off x="6949440" y="8732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6949440" y="9418320"/>
            <a:ext cx="2926080" cy="0"/>
          </a:xfrm>
          <a:prstGeom prst="line">
            <a:avLst/>
          </a:prstGeom>
          <a:noFill/>
          <a:ln w="19050">
            <a:solidFill>
              <a:srgbClr val="9AA5B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3b48ef2-96cd-543d-88a0-c23a639d3fc8/scratchpad/ref/assets/tene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2834640" cy="823066"/>
          </a:xfrm>
          <a:prstGeom prst="rect">
            <a:avLst/>
          </a:prstGeom>
        </p:spPr>
      </p:pic>
      <p:pic>
        <p:nvPicPr>
          <p:cNvPr id="3" name="Image 1" descr="/tmp/claude-0/-home-claude/93b48ef2-96cd-543d-88a0-c23a639d3fc8/scratchpad/ref/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680" y="73152"/>
            <a:ext cx="3337560" cy="15765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40480" y="640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9710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AYUSH-SETU  |  PS ID 26044  |  Team Tenet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17007840" y="9710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78308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web platform (installable PWA) connecting AYUSH students, academicians, institutions and industry across skill mapping, NSQF-verified assessments, internships and placements.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731520" y="2743200"/>
            <a:ext cx="941832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960120" y="3017520"/>
            <a:ext cx="777240" cy="777240"/>
          </a:xfrm>
          <a:prstGeom prst="ellipse">
            <a:avLst/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321183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965960" y="2852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Intelligence Layer</a:t>
            </a:r>
            <a:endParaRPr lang="en-US" sz="1900" dirty="0"/>
          </a:p>
        </p:txBody>
      </p:sp>
      <p:sp>
        <p:nvSpPr>
          <p:cNvPr id="12" name="Text 7"/>
          <p:cNvSpPr txBox="1"/>
          <p:nvPr/>
        </p:nvSpPr>
        <p:spPr>
          <a:xfrm>
            <a:off x="1965960" y="3246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NSQF level-wise tests (Levels 1–8) on HSSC Ayush Qualification Packs — Ahar &amp; Poshan Sahayak, Panchakarma Technician, Ayurveda Dietician — build verified skill profiles, bar-chart gap analysis and PDF reports.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731520" y="4206240"/>
            <a:ext cx="941832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60120" y="4480560"/>
            <a:ext cx="777240" cy="777240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30" y="4674870"/>
            <a:ext cx="388620" cy="3886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965960" y="4315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AI-Proctored Assessments</a:t>
            </a:r>
            <a:endParaRPr lang="en-US" sz="1900" dirty="0"/>
          </a:p>
        </p:txBody>
      </p:sp>
      <p:sp>
        <p:nvSpPr>
          <p:cNvPr id="17" name="Text 11"/>
          <p:cNvSpPr txBox="1"/>
          <p:nvPr/>
        </p:nvSpPr>
        <p:spPr>
          <a:xfrm>
            <a:off x="1965960" y="4709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tests two ways — upload CSV/JSON/manual or AI-generated level-wise tests — and run them with camera, microphone and entire-screen AI proctoring plus live proctors.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731520" y="5669280"/>
            <a:ext cx="941832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60120" y="5943600"/>
            <a:ext cx="777240" cy="777240"/>
          </a:xfrm>
          <a:prstGeom prst="ellipse">
            <a:avLst/>
          </a:prstGeom>
          <a:solidFill>
            <a:srgbClr val="2369A0"/>
          </a:solidFill>
          <a:ln w="12700">
            <a:solidFill>
              <a:srgbClr val="2369A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" y="6137910"/>
            <a:ext cx="388620" cy="3886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965960" y="57790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&amp; Collaboration Hub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1965960" y="61722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posts internships &amp; jobs matched by AI to verified scores; academicians mentor students; institutions track readiness and placement outcomes.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731520" y="7132320"/>
            <a:ext cx="9418320" cy="1325880"/>
          </a:xfrm>
          <a:prstGeom prst="roundRect">
            <a:avLst>
              <a:gd name="adj" fmla="val 12414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960120" y="7406640"/>
            <a:ext cx="777240" cy="777240"/>
          </a:xfrm>
          <a:prstGeom prst="ellipse">
            <a:avLst/>
          </a:prstGeom>
          <a:solidFill>
            <a:srgbClr val="645096"/>
          </a:solidFill>
          <a:ln w="12700">
            <a:solidFill>
              <a:srgbClr val="645096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430" y="7600950"/>
            <a:ext cx="388620" cy="3886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965960" y="72420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Portfolio, Notices &amp; Setu Sahayak</a:t>
            </a:r>
            <a:endParaRPr lang="en-US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1965960" y="76352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Certificates, projects, application tracking, notices and a role-aware chatbot that guides users to features and answers doubts.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731520" y="8641080"/>
            <a:ext cx="9418320" cy="868680"/>
          </a:xfrm>
          <a:prstGeom prst="roundRect">
            <a:avLst>
              <a:gd name="adj" fmla="val 18947"/>
            </a:avLst>
          </a:prstGeom>
          <a:solidFill>
            <a:srgbClr val="FFF0DC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1005840" y="86410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7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different: </a:t>
            </a:r>
            <a:pPr indent="0" marL="0">
              <a:buNone/>
            </a:pPr>
            <a:r>
              <a:rPr lang="en-US" sz="1550" dirty="0">
                <a:solidFill>
                  <a:srgbClr val="2F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Ayush-focused skill-to-placement portal where every skill score comes from an AI-proctored, NSQF level-wise test — so industry can trust the shortlist.</a:t>
            </a:r>
            <a:endParaRPr lang="en-US" sz="1550" dirty="0"/>
          </a:p>
        </p:txBody>
      </p:sp>
      <p:sp>
        <p:nvSpPr>
          <p:cNvPr id="30" name="Text 22"/>
          <p:cNvSpPr txBox="1"/>
          <p:nvPr/>
        </p:nvSpPr>
        <p:spPr>
          <a:xfrm>
            <a:off x="10515600" y="1783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ONE ECOSYSTEM</a:t>
            </a:r>
            <a:endParaRPr lang="en-US" sz="1800" dirty="0"/>
          </a:p>
        </p:txBody>
      </p:sp>
      <p:sp>
        <p:nvSpPr>
          <p:cNvPr id="31" name="Shape 23"/>
          <p:cNvSpPr/>
          <p:nvPr/>
        </p:nvSpPr>
        <p:spPr>
          <a:xfrm>
            <a:off x="11795760" y="3063240"/>
            <a:ext cx="2286000" cy="1051560"/>
          </a:xfrm>
          <a:prstGeom prst="line">
            <a:avLst/>
          </a:prstGeom>
          <a:noFill/>
          <a:ln w="31750">
            <a:solidFill>
              <a:srgbClr val="C9D2DD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 flipH="1">
            <a:off x="14081760" y="3063240"/>
            <a:ext cx="2286000" cy="1051560"/>
          </a:xfrm>
          <a:prstGeom prst="line">
            <a:avLst/>
          </a:prstGeom>
          <a:noFill/>
          <a:ln w="31750">
            <a:solidFill>
              <a:srgbClr val="C9D2DD"/>
            </a:solidFill>
            <a:prstDash val="dash"/>
          </a:ln>
        </p:spPr>
      </p:sp>
      <p:sp>
        <p:nvSpPr>
          <p:cNvPr id="33" name="Shape 25"/>
          <p:cNvSpPr/>
          <p:nvPr/>
        </p:nvSpPr>
        <p:spPr>
          <a:xfrm flipH="1">
            <a:off x="11795760" y="4114800"/>
            <a:ext cx="2286000" cy="1051560"/>
          </a:xfrm>
          <a:prstGeom prst="line">
            <a:avLst/>
          </a:prstGeom>
          <a:noFill/>
          <a:ln w="31750">
            <a:solidFill>
              <a:srgbClr val="C9D2DD"/>
            </a:solidFill>
            <a:prstDash val="dash"/>
          </a:ln>
        </p:spPr>
      </p:sp>
      <p:sp>
        <p:nvSpPr>
          <p:cNvPr id="34" name="Shape 26"/>
          <p:cNvSpPr/>
          <p:nvPr/>
        </p:nvSpPr>
        <p:spPr>
          <a:xfrm>
            <a:off x="14081760" y="4114800"/>
            <a:ext cx="2286000" cy="1051560"/>
          </a:xfrm>
          <a:prstGeom prst="line">
            <a:avLst/>
          </a:prstGeom>
          <a:noFill/>
          <a:ln w="31750">
            <a:solidFill>
              <a:srgbClr val="C9D2DD"/>
            </a:solidFill>
            <a:prstDash val="dash"/>
          </a:ln>
        </p:spPr>
      </p:sp>
      <p:sp>
        <p:nvSpPr>
          <p:cNvPr id="35" name="Shape 27"/>
          <p:cNvSpPr/>
          <p:nvPr/>
        </p:nvSpPr>
        <p:spPr>
          <a:xfrm>
            <a:off x="13121640" y="3154680"/>
            <a:ext cx="1920240" cy="1920240"/>
          </a:xfrm>
          <a:prstGeom prst="ellipse">
            <a:avLst/>
          </a:prstGeom>
          <a:solidFill>
            <a:srgbClr val="2F4C6F"/>
          </a:solidFill>
          <a:ln w="76200">
            <a:solidFill>
              <a:srgbClr val="FFF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 28"/>
          <p:cNvSpPr txBox="1"/>
          <p:nvPr/>
        </p:nvSpPr>
        <p:spPr>
          <a:xfrm>
            <a:off x="13121640" y="31546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AYUSH-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</a:t>
            </a:r>
            <a:endParaRPr lang="en-US" sz="1900" dirty="0"/>
          </a:p>
        </p:txBody>
      </p:sp>
      <p:sp>
        <p:nvSpPr>
          <p:cNvPr id="37" name="Shape 29"/>
          <p:cNvSpPr/>
          <p:nvPr/>
        </p:nvSpPr>
        <p:spPr>
          <a:xfrm>
            <a:off x="11338560" y="2606040"/>
            <a:ext cx="914400" cy="914400"/>
          </a:xfrm>
          <a:prstGeom prst="ellipse">
            <a:avLst/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7160" y="2834640"/>
            <a:ext cx="457200" cy="4572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607040" y="2240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15910560" y="2606040"/>
            <a:ext cx="914400" cy="914400"/>
          </a:xfrm>
          <a:prstGeom prst="ellipse">
            <a:avLst/>
          </a:prstGeom>
          <a:solidFill>
            <a:srgbClr val="2369A0"/>
          </a:solidFill>
          <a:ln w="12700">
            <a:solidFill>
              <a:srgbClr val="2369A0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39160" y="2834640"/>
            <a:ext cx="457200" cy="4572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5179040" y="22402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Academicians</a:t>
            </a:r>
            <a:endParaRPr lang="en-US" sz="1500" dirty="0"/>
          </a:p>
        </p:txBody>
      </p:sp>
      <p:sp>
        <p:nvSpPr>
          <p:cNvPr id="43" name="Shape 33"/>
          <p:cNvSpPr/>
          <p:nvPr/>
        </p:nvSpPr>
        <p:spPr>
          <a:xfrm>
            <a:off x="11338560" y="4709160"/>
            <a:ext cx="914400" cy="914400"/>
          </a:xfrm>
          <a:prstGeom prst="ellipse">
            <a:avLst/>
          </a:prstGeom>
          <a:solidFill>
            <a:srgbClr val="645096"/>
          </a:solidFill>
          <a:ln w="12700">
            <a:solidFill>
              <a:srgbClr val="645096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7160" y="4937760"/>
            <a:ext cx="457200" cy="45720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0607040" y="5641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</a:t>
            </a:r>
            <a:endParaRPr lang="en-US" sz="1500" dirty="0"/>
          </a:p>
        </p:txBody>
      </p:sp>
      <p:sp>
        <p:nvSpPr>
          <p:cNvPr id="46" name="Shape 35"/>
          <p:cNvSpPr/>
          <p:nvPr/>
        </p:nvSpPr>
        <p:spPr>
          <a:xfrm>
            <a:off x="15910560" y="4709160"/>
            <a:ext cx="914400" cy="914400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39160" y="4937760"/>
            <a:ext cx="457200" cy="457200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15179040" y="5641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500" dirty="0"/>
          </a:p>
        </p:txBody>
      </p:sp>
      <p:sp>
        <p:nvSpPr>
          <p:cNvPr id="49" name="Shape 37"/>
          <p:cNvSpPr/>
          <p:nvPr/>
        </p:nvSpPr>
        <p:spPr>
          <a:xfrm>
            <a:off x="11155680" y="6080760"/>
            <a:ext cx="5760720" cy="3280011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0" name="Image 10" descr="/tmp/claude-0/-home-claude/93b48ef2-96cd-543d-88a0-c23a639d3fc8/scratchpad/ppt/shots/level_test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6126480"/>
            <a:ext cx="5669280" cy="3188571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11201400" y="9388203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NSQF Level-wise Tests roadmap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3b48ef2-96cd-543d-88a0-c23a639d3fc8/scratchpad/ref/assets/tene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2834640" cy="823066"/>
          </a:xfrm>
          <a:prstGeom prst="rect">
            <a:avLst/>
          </a:prstGeom>
        </p:spPr>
      </p:pic>
      <p:pic>
        <p:nvPicPr>
          <p:cNvPr id="3" name="Image 1" descr="/tmp/claude-0/-home-claude/93b48ef2-96cd-543d-88a0-c23a639d3fc8/scratchpad/ref/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680" y="73152"/>
            <a:ext cx="3337560" cy="15765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40480" y="640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9710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AYUSH-SETU  |  PS ID 26044  |  Team Tenet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17007840" y="9710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02920" y="1783080"/>
            <a:ext cx="17282160" cy="7818120"/>
          </a:xfrm>
          <a:prstGeom prst="roundRect">
            <a:avLst>
              <a:gd name="adj" fmla="val 5263"/>
            </a:avLst>
          </a:prstGeom>
          <a:solidFill>
            <a:srgbClr val="FFF4E0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1828800"/>
            <a:ext cx="1664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SCALABLE &amp; EXPLAINABLE ARCHITECTURE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822960" y="2395728"/>
            <a:ext cx="3050438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60120" y="2468880"/>
            <a:ext cx="420624" cy="420624"/>
          </a:xfrm>
          <a:prstGeom prst="ellipse">
            <a:avLst/>
          </a:prstGeom>
          <a:solidFill>
            <a:srgbClr val="2369A0"/>
          </a:solidFill>
          <a:ln w="12700">
            <a:solidFill>
              <a:srgbClr val="2369A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6012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468880"/>
            <a:ext cx="23189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TEST</a:t>
            </a:r>
            <a:endParaRPr lang="en-US" sz="1550" dirty="0"/>
          </a:p>
        </p:txBody>
      </p:sp>
      <p:pic>
        <p:nvPicPr>
          <p:cNvPr id="13" name="Image 2" descr="/tmp/claude-0/-home-claude/93b48ef2-96cd-543d-88a0-c23a639d3fc8/scratchpad/ppt/shots/ai_gene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899" y="2953512"/>
            <a:ext cx="2194560" cy="12342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73398" y="3108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4220870" y="2395728"/>
            <a:ext cx="3050438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358030" y="2468880"/>
            <a:ext cx="420624" cy="420624"/>
          </a:xfrm>
          <a:prstGeom prst="ellipse">
            <a:avLst/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35803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60950" y="2468880"/>
            <a:ext cx="23189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CHECK</a:t>
            </a:r>
            <a:endParaRPr lang="en-US" sz="1550" dirty="0"/>
          </a:p>
        </p:txBody>
      </p:sp>
      <p:pic>
        <p:nvPicPr>
          <p:cNvPr id="19" name="Image 3" descr="/tmp/claude-0/-home-claude/93b48ef2-96cd-543d-88a0-c23a639d3fc8/scratchpad/ppt/shots/system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810" y="2953512"/>
            <a:ext cx="2194560" cy="123428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271309" y="3108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7618781" y="2395728"/>
            <a:ext cx="3050438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55941" y="2468880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755941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258861" y="2468880"/>
            <a:ext cx="23189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PROCTORED TEST</a:t>
            </a:r>
            <a:endParaRPr lang="en-US" sz="1550" dirty="0"/>
          </a:p>
        </p:txBody>
      </p:sp>
      <p:pic>
        <p:nvPicPr>
          <p:cNvPr id="25" name="Image 4" descr="/tmp/claude-0/-home-claude/93b48ef2-96cd-543d-88a0-c23a639d3fc8/scratchpad/ppt/shots/t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953512"/>
            <a:ext cx="2194560" cy="123428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669219" y="3108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0"/>
          <p:cNvSpPr/>
          <p:nvPr/>
        </p:nvSpPr>
        <p:spPr>
          <a:xfrm>
            <a:off x="11016691" y="2395728"/>
            <a:ext cx="3050438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1153851" y="2468880"/>
            <a:ext cx="420624" cy="420624"/>
          </a:xfrm>
          <a:prstGeom prst="ellipse">
            <a:avLst/>
          </a:prstGeom>
          <a:solidFill>
            <a:srgbClr val="645096"/>
          </a:solidFill>
          <a:ln w="12700">
            <a:solidFill>
              <a:srgbClr val="645096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1153851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11656771" y="2468880"/>
            <a:ext cx="23189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PROCTOR</a:t>
            </a:r>
            <a:endParaRPr lang="en-US" sz="1550" dirty="0"/>
          </a:p>
        </p:txBody>
      </p:sp>
      <p:pic>
        <p:nvPicPr>
          <p:cNvPr id="31" name="Image 5" descr="/tmp/claude-0/-home-claude/93b48ef2-96cd-543d-88a0-c23a639d3fc8/scratchpad/ppt/shots/li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44630" y="2953512"/>
            <a:ext cx="2194560" cy="123428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4067130" y="310896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25"/>
          <p:cNvSpPr/>
          <p:nvPr/>
        </p:nvSpPr>
        <p:spPr>
          <a:xfrm>
            <a:off x="14414602" y="2395728"/>
            <a:ext cx="3050438" cy="1938528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14551762" y="2468880"/>
            <a:ext cx="420624" cy="42062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14551762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15054682" y="2468880"/>
            <a:ext cx="23189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&amp; SKILLS</a:t>
            </a:r>
            <a:endParaRPr lang="en-US" sz="1550" dirty="0"/>
          </a:p>
        </p:txBody>
      </p:sp>
      <p:pic>
        <p:nvPicPr>
          <p:cNvPr id="37" name="Image 6" descr="/tmp/claude-0/-home-claude/93b48ef2-96cd-543d-88a0-c23a639d3fc8/scratchpad/ppt/shots/repo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42541" y="2953512"/>
            <a:ext cx="2194560" cy="1234286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68680" y="44256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ANTI-CHEATING ENGINE</a:t>
            </a:r>
            <a:endParaRPr lang="en-US" sz="1700" dirty="0"/>
          </a:p>
        </p:txBody>
      </p:sp>
      <p:sp>
        <p:nvSpPr>
          <p:cNvPr id="39" name="Shape 30"/>
          <p:cNvSpPr/>
          <p:nvPr/>
        </p:nvSpPr>
        <p:spPr>
          <a:xfrm>
            <a:off x="822960" y="480060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32688" y="4892040"/>
            <a:ext cx="457200" cy="457200"/>
          </a:xfrm>
          <a:prstGeom prst="ellipse">
            <a:avLst/>
          </a:prstGeom>
          <a:solidFill>
            <a:srgbClr val="2369A0"/>
          </a:solidFill>
          <a:ln w="12700">
            <a:solidFill>
              <a:srgbClr val="2369A0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988" y="5006340"/>
            <a:ext cx="228600" cy="2286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481328" y="487375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+ Screen Sync (remote access)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950976" y="5385816"/>
            <a:ext cx="3282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Entire-screen share with a rotating colour sync marker; keyboard/mouse input is checked against the verified face on camera; AnyDesk/RDP/VM display &amp; cursor-teleport detection; extra monitors blocked.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4526280" y="480060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4636008" y="4892040"/>
            <a:ext cx="457200" cy="457200"/>
          </a:xfrm>
          <a:prstGeom prst="ellipse">
            <a:avLst/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0308" y="5006340"/>
            <a:ext cx="228600" cy="22860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184648" y="487375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Monitoring</a:t>
            </a:r>
            <a:endParaRPr lang="en-US" sz="1300" dirty="0"/>
          </a:p>
        </p:txBody>
      </p:sp>
      <p:sp>
        <p:nvSpPr>
          <p:cNvPr id="48" name="Text 37"/>
          <p:cNvSpPr txBox="1"/>
          <p:nvPr/>
        </p:nvSpPr>
        <p:spPr>
          <a:xfrm>
            <a:off x="4654296" y="5385816"/>
            <a:ext cx="3282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speech detection against calibrated room noise; a voice while the candidate’s lips don’t move = another person helping; mic-off alert.</a:t>
            </a:r>
            <a:endParaRPr lang="en-US" sz="1100" dirty="0"/>
          </a:p>
        </p:txBody>
      </p:sp>
      <p:sp>
        <p:nvSpPr>
          <p:cNvPr id="49" name="Shape 38"/>
          <p:cNvSpPr/>
          <p:nvPr/>
        </p:nvSpPr>
        <p:spPr>
          <a:xfrm>
            <a:off x="8229600" y="480060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8339328" y="4892040"/>
            <a:ext cx="457200" cy="457200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3628" y="5006340"/>
            <a:ext cx="228600" cy="22860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8887968" y="487375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Extra Person &amp; Phone</a:t>
            </a:r>
            <a:endParaRPr lang="en-US" sz="1300" dirty="0"/>
          </a:p>
        </p:txBody>
      </p:sp>
      <p:sp>
        <p:nvSpPr>
          <p:cNvPr id="53" name="Text 41"/>
          <p:cNvSpPr txBox="1"/>
          <p:nvPr/>
        </p:nvSpPr>
        <p:spPr>
          <a:xfrm>
            <a:off x="8357616" y="5385816"/>
            <a:ext cx="3282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 + person detection, mobile-phone detection (photos for AI help), look-down tracking, face recognition and anti-spoofing.</a:t>
            </a:r>
            <a:endParaRPr lang="en-US" sz="1100" dirty="0"/>
          </a:p>
        </p:txBody>
      </p:sp>
      <p:sp>
        <p:nvSpPr>
          <p:cNvPr id="54" name="Shape 42"/>
          <p:cNvSpPr/>
          <p:nvPr/>
        </p:nvSpPr>
        <p:spPr>
          <a:xfrm>
            <a:off x="822960" y="626364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932688" y="6355080"/>
            <a:ext cx="457200" cy="457200"/>
          </a:xfrm>
          <a:prstGeom prst="ellipse">
            <a:avLst/>
          </a:prstGeom>
          <a:solidFill>
            <a:srgbClr val="645096"/>
          </a:solidFill>
          <a:ln w="12700">
            <a:solidFill>
              <a:srgbClr val="645096"/>
            </a:solidFill>
            <a:prstDash val="solid"/>
          </a:ln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988" y="6469380"/>
            <a:ext cx="228600" cy="228600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1481328" y="633679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Tab Switch / Background Apps</a:t>
            </a:r>
            <a:endParaRPr lang="en-US" sz="1300" dirty="0"/>
          </a:p>
        </p:txBody>
      </p:sp>
      <p:sp>
        <p:nvSpPr>
          <p:cNvPr id="58" name="Text 45"/>
          <p:cNvSpPr txBox="1"/>
          <p:nvPr/>
        </p:nvSpPr>
        <p:spPr>
          <a:xfrm>
            <a:off x="950976" y="6848856"/>
            <a:ext cx="3282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full screen until submit; tab, app &amp; focus tracking; questions hidden when another app takes focus; screen snapshot as evidence.</a:t>
            </a:r>
            <a:endParaRPr lang="en-US" sz="1100" dirty="0"/>
          </a:p>
        </p:txBody>
      </p:sp>
      <p:sp>
        <p:nvSpPr>
          <p:cNvPr id="59" name="Shape 46"/>
          <p:cNvSpPr/>
          <p:nvPr/>
        </p:nvSpPr>
        <p:spPr>
          <a:xfrm>
            <a:off x="4526280" y="626364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0" name="Shape 47"/>
          <p:cNvSpPr/>
          <p:nvPr/>
        </p:nvSpPr>
        <p:spPr>
          <a:xfrm>
            <a:off x="4636008" y="63550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0308" y="6469380"/>
            <a:ext cx="228600" cy="228600"/>
          </a:xfrm>
          <a:prstGeom prst="rect">
            <a:avLst/>
          </a:prstGeom>
        </p:spPr>
      </p:pic>
      <p:sp>
        <p:nvSpPr>
          <p:cNvPr id="62" name="Text 48"/>
          <p:cNvSpPr txBox="1"/>
          <p:nvPr/>
        </p:nvSpPr>
        <p:spPr>
          <a:xfrm>
            <a:off x="5184648" y="633679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Cheating Methods Closed</a:t>
            </a:r>
            <a:endParaRPr lang="en-US" sz="1300" dirty="0"/>
          </a:p>
        </p:txBody>
      </p:sp>
      <p:sp>
        <p:nvSpPr>
          <p:cNvPr id="63" name="Text 49"/>
          <p:cNvSpPr txBox="1"/>
          <p:nvPr/>
        </p:nvSpPr>
        <p:spPr>
          <a:xfrm>
            <a:off x="4654296" y="6848856"/>
            <a:ext cx="3282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Copy/paste, print, shortcuts, DevTools, AI extensions &amp; bots blocked; per-student question/option shuffle; watermark; chatbot off; one live attempt.</a:t>
            </a:r>
            <a:endParaRPr lang="en-US" sz="1100" dirty="0"/>
          </a:p>
        </p:txBody>
      </p:sp>
      <p:sp>
        <p:nvSpPr>
          <p:cNvPr id="64" name="Shape 50"/>
          <p:cNvSpPr/>
          <p:nvPr/>
        </p:nvSpPr>
        <p:spPr>
          <a:xfrm>
            <a:off x="8229600" y="6263640"/>
            <a:ext cx="35204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5" name="Shape 51"/>
          <p:cNvSpPr/>
          <p:nvPr/>
        </p:nvSpPr>
        <p:spPr>
          <a:xfrm>
            <a:off x="8339328" y="63550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3628" y="6469380"/>
            <a:ext cx="228600" cy="228600"/>
          </a:xfrm>
          <a:prstGeom prst="rect">
            <a:avLst/>
          </a:prstGeom>
        </p:spPr>
      </p:pic>
      <p:sp>
        <p:nvSpPr>
          <p:cNvPr id="67" name="Text 52"/>
          <p:cNvSpPr txBox="1"/>
          <p:nvPr/>
        </p:nvSpPr>
        <p:spPr>
          <a:xfrm>
            <a:off x="8887968" y="633679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&amp; Evidence</a:t>
            </a:r>
            <a:endParaRPr lang="en-US" sz="1300" dirty="0"/>
          </a:p>
        </p:txBody>
      </p:sp>
      <p:sp>
        <p:nvSpPr>
          <p:cNvPr id="68" name="Text 53"/>
          <p:cNvSpPr txBox="1"/>
          <p:nvPr/>
        </p:nvSpPr>
        <p:spPr>
          <a:xfrm>
            <a:off x="8357616" y="6848856"/>
            <a:ext cx="32826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serious violations → auto-submit + flag; live proctor can terminate; server timer &amp; autosave; timeline with webcam/screen snapshots.</a:t>
            </a:r>
            <a:endParaRPr lang="en-US" sz="1100" dirty="0"/>
          </a:p>
        </p:txBody>
      </p:sp>
      <p:sp>
        <p:nvSpPr>
          <p:cNvPr id="69" name="Text 54"/>
          <p:cNvSpPr txBox="1"/>
          <p:nvPr/>
        </p:nvSpPr>
        <p:spPr>
          <a:xfrm>
            <a:off x="11978640" y="44256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TESTS, LEARNING &amp; ASSISTANT</a:t>
            </a:r>
            <a:endParaRPr lang="en-US" sz="1700" dirty="0"/>
          </a:p>
        </p:txBody>
      </p:sp>
      <p:sp>
        <p:nvSpPr>
          <p:cNvPr id="70" name="Shape 55"/>
          <p:cNvSpPr/>
          <p:nvPr/>
        </p:nvSpPr>
        <p:spPr>
          <a:xfrm>
            <a:off x="11978640" y="4800600"/>
            <a:ext cx="5486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1" name="Shape 56"/>
          <p:cNvSpPr/>
          <p:nvPr/>
        </p:nvSpPr>
        <p:spPr>
          <a:xfrm>
            <a:off x="12070080" y="4919472"/>
            <a:ext cx="420624" cy="420624"/>
          </a:xfrm>
          <a:prstGeom prst="ellipse">
            <a:avLst/>
          </a:prstGeom>
          <a:solidFill>
            <a:srgbClr val="2369A0"/>
          </a:solidFill>
          <a:ln w="12700">
            <a:solidFill>
              <a:srgbClr val="2369A0"/>
            </a:solidFill>
            <a:prstDash val="solid"/>
          </a:ln>
        </p:spPr>
      </p:sp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75236" y="5024628"/>
            <a:ext cx="210312" cy="210312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12600432" y="48371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create tests</a:t>
            </a:r>
            <a:endParaRPr lang="en-US" sz="1250" dirty="0"/>
          </a:p>
        </p:txBody>
      </p:sp>
      <p:sp>
        <p:nvSpPr>
          <p:cNvPr id="74" name="Text 58"/>
          <p:cNvSpPr txBox="1"/>
          <p:nvPr/>
        </p:nvSpPr>
        <p:spPr>
          <a:xfrm>
            <a:off x="12600432" y="510235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CSV/JSON/manual OR AI-generate (Gemini/OpenAI + offline bank); review, then publish</a:t>
            </a:r>
            <a:endParaRPr lang="en-US" sz="1050" dirty="0"/>
          </a:p>
        </p:txBody>
      </p:sp>
      <p:sp>
        <p:nvSpPr>
          <p:cNvPr id="75" name="Shape 59"/>
          <p:cNvSpPr/>
          <p:nvPr/>
        </p:nvSpPr>
        <p:spPr>
          <a:xfrm>
            <a:off x="11978640" y="5532120"/>
            <a:ext cx="5486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6" name="Shape 60"/>
          <p:cNvSpPr/>
          <p:nvPr/>
        </p:nvSpPr>
        <p:spPr>
          <a:xfrm>
            <a:off x="12070080" y="5650992"/>
            <a:ext cx="420624" cy="420624"/>
          </a:xfrm>
          <a:prstGeom prst="ellipse">
            <a:avLst/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pic>
        <p:nvPicPr>
          <p:cNvPr id="7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75236" y="5756148"/>
            <a:ext cx="210312" cy="210312"/>
          </a:xfrm>
          <a:prstGeom prst="rect">
            <a:avLst/>
          </a:prstGeom>
        </p:spPr>
      </p:pic>
      <p:sp>
        <p:nvSpPr>
          <p:cNvPr id="78" name="Text 61"/>
          <p:cNvSpPr txBox="1"/>
          <p:nvPr/>
        </p:nvSpPr>
        <p:spPr>
          <a:xfrm>
            <a:off x="12600432" y="55686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NSQF Level-wise Tests</a:t>
            </a:r>
            <a:endParaRPr lang="en-US" sz="1250" dirty="0"/>
          </a:p>
        </p:txBody>
      </p:sp>
      <p:sp>
        <p:nvSpPr>
          <p:cNvPr id="79" name="Text 62"/>
          <p:cNvSpPr txBox="1"/>
          <p:nvPr/>
        </p:nvSpPr>
        <p:spPr>
          <a:xfrm>
            <a:off x="12600432" y="58338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1–8 roadmap, unlock next level on pass, AI practice test per level</a:t>
            </a:r>
            <a:endParaRPr lang="en-US" sz="1050" dirty="0"/>
          </a:p>
        </p:txBody>
      </p:sp>
      <p:sp>
        <p:nvSpPr>
          <p:cNvPr id="80" name="Shape 63"/>
          <p:cNvSpPr/>
          <p:nvPr/>
        </p:nvSpPr>
        <p:spPr>
          <a:xfrm>
            <a:off x="11978640" y="6263640"/>
            <a:ext cx="5486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1" name="Shape 64"/>
          <p:cNvSpPr/>
          <p:nvPr/>
        </p:nvSpPr>
        <p:spPr>
          <a:xfrm>
            <a:off x="12070080" y="6382512"/>
            <a:ext cx="420624" cy="420624"/>
          </a:xfrm>
          <a:prstGeom prst="ellipse">
            <a:avLst/>
          </a:prstGeom>
          <a:solidFill>
            <a:srgbClr val="645096"/>
          </a:solidFill>
          <a:ln w="12700">
            <a:solidFill>
              <a:srgbClr val="645096"/>
            </a:solidFill>
            <a:prstDash val="solid"/>
          </a:ln>
        </p:spPr>
      </p:sp>
      <p:pic>
        <p:nvPicPr>
          <p:cNvPr id="8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175236" y="6487668"/>
            <a:ext cx="210312" cy="210312"/>
          </a:xfrm>
          <a:prstGeom prst="rect">
            <a:avLst/>
          </a:prstGeom>
        </p:spPr>
      </p:pic>
      <p:sp>
        <p:nvSpPr>
          <p:cNvPr id="83" name="Text 65"/>
          <p:cNvSpPr txBox="1"/>
          <p:nvPr/>
        </p:nvSpPr>
        <p:spPr>
          <a:xfrm>
            <a:off x="12600432" y="63002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 Sahayak Chatbot</a:t>
            </a:r>
            <a:endParaRPr lang="en-US" sz="1250" dirty="0"/>
          </a:p>
        </p:txBody>
      </p:sp>
      <p:sp>
        <p:nvSpPr>
          <p:cNvPr id="84" name="Text 66"/>
          <p:cNvSpPr txBox="1"/>
          <p:nvPr/>
        </p:nvSpPr>
        <p:spPr>
          <a:xfrm>
            <a:off x="12600432" y="656539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students, industry &amp; admin to tests, notices, jobs; answers doubts; off during tests</a:t>
            </a:r>
            <a:endParaRPr lang="en-US" sz="1050" dirty="0"/>
          </a:p>
        </p:txBody>
      </p:sp>
      <p:sp>
        <p:nvSpPr>
          <p:cNvPr id="85" name="Shape 67"/>
          <p:cNvSpPr/>
          <p:nvPr/>
        </p:nvSpPr>
        <p:spPr>
          <a:xfrm>
            <a:off x="11978640" y="6995160"/>
            <a:ext cx="5486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6" name="Shape 68"/>
          <p:cNvSpPr/>
          <p:nvPr/>
        </p:nvSpPr>
        <p:spPr>
          <a:xfrm>
            <a:off x="12070080" y="7114032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pic>
        <p:nvPicPr>
          <p:cNvPr id="8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75236" y="7219188"/>
            <a:ext cx="210312" cy="210312"/>
          </a:xfrm>
          <a:prstGeom prst="rect">
            <a:avLst/>
          </a:prstGeom>
        </p:spPr>
      </p:pic>
      <p:sp>
        <p:nvSpPr>
          <p:cNvPr id="88" name="Text 69"/>
          <p:cNvSpPr txBox="1"/>
          <p:nvPr/>
        </p:nvSpPr>
        <p:spPr>
          <a:xfrm>
            <a:off x="12600432" y="703173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tests &amp; bar-graph results</a:t>
            </a:r>
            <a:endParaRPr lang="en-US" sz="1250" dirty="0"/>
          </a:p>
        </p:txBody>
      </p:sp>
      <p:sp>
        <p:nvSpPr>
          <p:cNvPr id="89" name="Text 70"/>
          <p:cNvSpPr txBox="1"/>
          <p:nvPr/>
        </p:nvSpPr>
        <p:spPr>
          <a:xfrm>
            <a:off x="12600432" y="729691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on at start, full-screen test, instant score, skill bar graph vs benchmark, notices</a:t>
            </a:r>
            <a:endParaRPr lang="en-US" sz="1050" dirty="0"/>
          </a:p>
        </p:txBody>
      </p:sp>
      <p:sp>
        <p:nvSpPr>
          <p:cNvPr id="90" name="Text 71"/>
          <p:cNvSpPr txBox="1"/>
          <p:nvPr/>
        </p:nvSpPr>
        <p:spPr>
          <a:xfrm>
            <a:off x="868680" y="7772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STACK</a:t>
            </a:r>
            <a:endParaRPr lang="en-US" sz="1700" dirty="0"/>
          </a:p>
        </p:txBody>
      </p:sp>
      <p:sp>
        <p:nvSpPr>
          <p:cNvPr id="91" name="Shape 72"/>
          <p:cNvSpPr/>
          <p:nvPr/>
        </p:nvSpPr>
        <p:spPr>
          <a:xfrm>
            <a:off x="822960" y="8156448"/>
            <a:ext cx="314553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2" name="Text 73"/>
          <p:cNvSpPr txBox="1"/>
          <p:nvPr/>
        </p:nvSpPr>
        <p:spPr>
          <a:xfrm>
            <a:off x="1005840" y="818388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3" name="Text 74"/>
          <p:cNvSpPr txBox="1"/>
          <p:nvPr/>
        </p:nvSpPr>
        <p:spPr>
          <a:xfrm>
            <a:off x="1005840" y="85039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Tailwind (PWA)</a:t>
            </a:r>
            <a:endParaRPr lang="en-US" sz="1250" dirty="0"/>
          </a:p>
        </p:txBody>
      </p:sp>
      <p:sp>
        <p:nvSpPr>
          <p:cNvPr id="94" name="Shape 75"/>
          <p:cNvSpPr/>
          <p:nvPr/>
        </p:nvSpPr>
        <p:spPr>
          <a:xfrm>
            <a:off x="4197096" y="8156448"/>
            <a:ext cx="314553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5" name="Text 76"/>
          <p:cNvSpPr txBox="1"/>
          <p:nvPr/>
        </p:nvSpPr>
        <p:spPr>
          <a:xfrm>
            <a:off x="4379976" y="818388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96" name="Text 77"/>
          <p:cNvSpPr txBox="1"/>
          <p:nvPr/>
        </p:nvSpPr>
        <p:spPr>
          <a:xfrm>
            <a:off x="4379976" y="85039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· Prisma · FastAPI</a:t>
            </a:r>
            <a:endParaRPr lang="en-US" sz="1250" dirty="0"/>
          </a:p>
        </p:txBody>
      </p:sp>
      <p:sp>
        <p:nvSpPr>
          <p:cNvPr id="97" name="Shape 78"/>
          <p:cNvSpPr/>
          <p:nvPr/>
        </p:nvSpPr>
        <p:spPr>
          <a:xfrm>
            <a:off x="7571232" y="8156448"/>
            <a:ext cx="314553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8" name="Text 79"/>
          <p:cNvSpPr txBox="1"/>
          <p:nvPr/>
        </p:nvSpPr>
        <p:spPr>
          <a:xfrm>
            <a:off x="7754112" y="818388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500" dirty="0"/>
          </a:p>
        </p:txBody>
      </p:sp>
      <p:sp>
        <p:nvSpPr>
          <p:cNvPr id="99" name="Text 80"/>
          <p:cNvSpPr txBox="1"/>
          <p:nvPr/>
        </p:nvSpPr>
        <p:spPr>
          <a:xfrm>
            <a:off x="7754112" y="85039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TensorFlow.js (Human) · Web Audio · Gemini/OpenAI</a:t>
            </a:r>
            <a:endParaRPr lang="en-US" sz="1250" dirty="0"/>
          </a:p>
        </p:txBody>
      </p:sp>
      <p:sp>
        <p:nvSpPr>
          <p:cNvPr id="100" name="Shape 81"/>
          <p:cNvSpPr/>
          <p:nvPr/>
        </p:nvSpPr>
        <p:spPr>
          <a:xfrm>
            <a:off x="10945368" y="8156448"/>
            <a:ext cx="314553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1" name="Text 82"/>
          <p:cNvSpPr txBox="1"/>
          <p:nvPr/>
        </p:nvSpPr>
        <p:spPr>
          <a:xfrm>
            <a:off x="11128248" y="818388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02" name="Text 83"/>
          <p:cNvSpPr txBox="1"/>
          <p:nvPr/>
        </p:nvSpPr>
        <p:spPr>
          <a:xfrm>
            <a:off x="11128248" y="85039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250" dirty="0"/>
          </a:p>
        </p:txBody>
      </p:sp>
      <p:sp>
        <p:nvSpPr>
          <p:cNvPr id="103" name="Shape 84"/>
          <p:cNvSpPr/>
          <p:nvPr/>
        </p:nvSpPr>
        <p:spPr>
          <a:xfrm>
            <a:off x="14319504" y="8156448"/>
            <a:ext cx="3145536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4" name="Text 85"/>
          <p:cNvSpPr txBox="1"/>
          <p:nvPr/>
        </p:nvSpPr>
        <p:spPr>
          <a:xfrm>
            <a:off x="14502384" y="818388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05" name="Text 86"/>
          <p:cNvSpPr txBox="1"/>
          <p:nvPr/>
        </p:nvSpPr>
        <p:spPr>
          <a:xfrm>
            <a:off x="14502384" y="850392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· server timer · HTTPS</a:t>
            </a:r>
            <a:endParaRPr lang="en-US" sz="1250" dirty="0"/>
          </a:p>
        </p:txBody>
      </p:sp>
      <p:sp>
        <p:nvSpPr>
          <p:cNvPr id="106" name="Text 87"/>
          <p:cNvSpPr txBox="1"/>
          <p:nvPr/>
        </p:nvSpPr>
        <p:spPr>
          <a:xfrm>
            <a:off x="822960" y="9006840"/>
            <a:ext cx="1664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Agile sprints → Working prototype → Pilot with institutions → Feedback loop → Scale through APIs &amp; integrations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3b48ef2-96cd-543d-88a0-c23a639d3fc8/scratchpad/ref/assets/tene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2834640" cy="823066"/>
          </a:xfrm>
          <a:prstGeom prst="rect">
            <a:avLst/>
          </a:prstGeom>
        </p:spPr>
      </p:pic>
      <p:pic>
        <p:nvPicPr>
          <p:cNvPr id="3" name="Image 1" descr="/tmp/claude-0/-home-claude/93b48ef2-96cd-543d-88a0-c23a639d3fc8/scratchpad/ref/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680" y="73152"/>
            <a:ext cx="3337560" cy="15765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40480" y="640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9710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AYUSH-SETU  |  PS ID 26044  |  Team Tenet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17007840" y="9710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02920" y="1783080"/>
            <a:ext cx="17282160" cy="7818120"/>
          </a:xfrm>
          <a:prstGeom prst="roundRect">
            <a:avLst>
              <a:gd name="adj" fmla="val 5263"/>
            </a:avLst>
          </a:prstGeom>
          <a:solidFill>
            <a:srgbClr val="FFF4E0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1874520"/>
            <a:ext cx="1664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TODAY. DESIGNED TO SCALE TOMORROW.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822960" y="256032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22960" y="2560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FEASIBLE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749040" y="256032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749040" y="2560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500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already built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223760" y="256032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223760" y="2560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500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· free-tier cloud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0698480" y="256032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10698480" y="2560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500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laptop with webcam &amp; mic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4173200" y="2560320"/>
            <a:ext cx="329184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14173200" y="2560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8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ctr" indent="0" marL="0">
              <a:buNone/>
            </a:pPr>
            <a:r>
              <a:rPr lang="en-US" sz="1500" dirty="0">
                <a:solidFill>
                  <a:srgbClr val="23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keys optional · offline fallback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68680" y="3310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LOOPHOLES WE FOUND  →  HOW AYUSH-SETU CLOSES THEM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14081760" y="3383280"/>
            <a:ext cx="237744" cy="237744"/>
          </a:xfrm>
          <a:prstGeom prst="ellipse">
            <a:avLst/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4401800" y="3310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15819120" y="3383280"/>
            <a:ext cx="237744" cy="23774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6139160" y="3310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22960" y="3749040"/>
            <a:ext cx="398907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60120" y="3877056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6012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481328" y="3840480"/>
            <a:ext cx="2205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helpers &amp; second screens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3714750" y="39319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714750" y="39319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1005840" y="4370832"/>
            <a:ext cx="3623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AnyDesk-style control or an extra monitor lets someone else see and answer.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960120" y="4846320"/>
            <a:ext cx="3714750" cy="987552"/>
          </a:xfrm>
          <a:prstGeom prst="roundRect">
            <a:avLst>
              <a:gd name="adj" fmla="val 925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1097280" y="4892040"/>
            <a:ext cx="34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097280" y="5138928"/>
            <a:ext cx="34404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Entire-screen share with a colour screen-sync marker, display count, remote-display &amp; cursor checks; clicks with no face on camera are flagged.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5040630" y="3749040"/>
            <a:ext cx="398907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5177790" y="3877056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17779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5698998" y="3840480"/>
            <a:ext cx="2205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&amp; photographed questions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7932420" y="39319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7932420" y="39319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50" dirty="0"/>
          </a:p>
        </p:txBody>
      </p:sp>
      <p:sp>
        <p:nvSpPr>
          <p:cNvPr id="40" name="Text 36"/>
          <p:cNvSpPr txBox="1"/>
          <p:nvPr/>
        </p:nvSpPr>
        <p:spPr>
          <a:xfrm>
            <a:off x="5223510" y="4370832"/>
            <a:ext cx="3623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get copied, screenshotted or photographed with a phone.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5177790" y="4846320"/>
            <a:ext cx="3714750" cy="987552"/>
          </a:xfrm>
          <a:prstGeom prst="roundRect">
            <a:avLst>
              <a:gd name="adj" fmla="val 925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314950" y="4892040"/>
            <a:ext cx="34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5314950" y="5138928"/>
            <a:ext cx="34404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question &amp; option shuffle, copy/print/shortcut blocking, traceable watermark and mobile-phone detection.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9258300" y="3749040"/>
            <a:ext cx="398907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9395460" y="3877056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39546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9916668" y="3840480"/>
            <a:ext cx="2205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from someone in the room</a:t>
            </a:r>
            <a:endParaRPr lang="en-US" sz="1400" dirty="0"/>
          </a:p>
        </p:txBody>
      </p:sp>
      <p:sp>
        <p:nvSpPr>
          <p:cNvPr id="48" name="Shape 44"/>
          <p:cNvSpPr/>
          <p:nvPr/>
        </p:nvSpPr>
        <p:spPr>
          <a:xfrm>
            <a:off x="12150090" y="39319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2150090" y="39319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50" dirty="0"/>
          </a:p>
        </p:txBody>
      </p:sp>
      <p:sp>
        <p:nvSpPr>
          <p:cNvPr id="50" name="Text 46"/>
          <p:cNvSpPr txBox="1"/>
          <p:nvPr/>
        </p:nvSpPr>
        <p:spPr>
          <a:xfrm>
            <a:off x="9441180" y="4370832"/>
            <a:ext cx="3623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sits nearby or whispers answers off-camera.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9395460" y="4846320"/>
            <a:ext cx="3714750" cy="987552"/>
          </a:xfrm>
          <a:prstGeom prst="roundRect">
            <a:avLst>
              <a:gd name="adj" fmla="val 925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9532620" y="4892040"/>
            <a:ext cx="34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100" dirty="0"/>
          </a:p>
        </p:txBody>
      </p:sp>
      <p:sp>
        <p:nvSpPr>
          <p:cNvPr id="53" name="Text 49"/>
          <p:cNvSpPr txBox="1"/>
          <p:nvPr/>
        </p:nvSpPr>
        <p:spPr>
          <a:xfrm>
            <a:off x="9532620" y="5138928"/>
            <a:ext cx="34404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 &amp; extra-person detection and voice detection matched with the candidate’s lip movement.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13475970" y="3749040"/>
            <a:ext cx="398907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51"/>
          <p:cNvSpPr/>
          <p:nvPr/>
        </p:nvSpPr>
        <p:spPr>
          <a:xfrm>
            <a:off x="13613130" y="3877056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1361313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57" name="Text 53"/>
          <p:cNvSpPr txBox="1"/>
          <p:nvPr/>
        </p:nvSpPr>
        <p:spPr>
          <a:xfrm>
            <a:off x="14134338" y="3840480"/>
            <a:ext cx="2205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Impersonation</a:t>
            </a:r>
            <a:endParaRPr lang="en-US" sz="1400" dirty="0"/>
          </a:p>
        </p:txBody>
      </p:sp>
      <p:sp>
        <p:nvSpPr>
          <p:cNvPr id="58" name="Shape 54"/>
          <p:cNvSpPr/>
          <p:nvPr/>
        </p:nvSpPr>
        <p:spPr>
          <a:xfrm>
            <a:off x="16367760" y="39319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16367760" y="39319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50" dirty="0"/>
          </a:p>
        </p:txBody>
      </p:sp>
      <p:sp>
        <p:nvSpPr>
          <p:cNvPr id="60" name="Text 56"/>
          <p:cNvSpPr txBox="1"/>
          <p:nvPr/>
        </p:nvSpPr>
        <p:spPr>
          <a:xfrm>
            <a:off x="13658850" y="4370832"/>
            <a:ext cx="3623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person sits the test or holds up a photo.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13613130" y="4846320"/>
            <a:ext cx="3714750" cy="987552"/>
          </a:xfrm>
          <a:prstGeom prst="roundRect">
            <a:avLst>
              <a:gd name="adj" fmla="val 925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3750290" y="4892040"/>
            <a:ext cx="34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100" dirty="0"/>
          </a:p>
        </p:txBody>
      </p:sp>
      <p:sp>
        <p:nvSpPr>
          <p:cNvPr id="63" name="Text 59"/>
          <p:cNvSpPr txBox="1"/>
          <p:nvPr/>
        </p:nvSpPr>
        <p:spPr>
          <a:xfrm>
            <a:off x="13750290" y="5138928"/>
            <a:ext cx="34404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against the face verified at start, plus anti-spoofing and liveness models.</a:t>
            </a:r>
            <a:endParaRPr lang="en-US" sz="1200" dirty="0"/>
          </a:p>
        </p:txBody>
      </p:sp>
      <p:sp>
        <p:nvSpPr>
          <p:cNvPr id="64" name="Shape 60"/>
          <p:cNvSpPr/>
          <p:nvPr/>
        </p:nvSpPr>
        <p:spPr>
          <a:xfrm>
            <a:off x="822960" y="6080760"/>
            <a:ext cx="398907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960120" y="6208776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960120" y="6208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67" name="Text 63"/>
          <p:cNvSpPr txBox="1"/>
          <p:nvPr/>
        </p:nvSpPr>
        <p:spPr>
          <a:xfrm>
            <a:off x="1481328" y="6172200"/>
            <a:ext cx="2205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little test content</a:t>
            </a:r>
            <a:endParaRPr lang="en-US" sz="1400" dirty="0"/>
          </a:p>
        </p:txBody>
      </p:sp>
      <p:sp>
        <p:nvSpPr>
          <p:cNvPr id="68" name="Shape 64"/>
          <p:cNvSpPr/>
          <p:nvPr/>
        </p:nvSpPr>
        <p:spPr>
          <a:xfrm>
            <a:off x="3714750" y="62636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3714750" y="6263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50" dirty="0"/>
          </a:p>
        </p:txBody>
      </p:sp>
      <p:sp>
        <p:nvSpPr>
          <p:cNvPr id="70" name="Text 66"/>
          <p:cNvSpPr txBox="1"/>
          <p:nvPr/>
        </p:nvSpPr>
        <p:spPr>
          <a:xfrm>
            <a:off x="1005840" y="6702552"/>
            <a:ext cx="3623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and industry lack time to write level-wise question banks.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960120" y="7178040"/>
            <a:ext cx="3714750" cy="987552"/>
          </a:xfrm>
          <a:prstGeom prst="roundRect">
            <a:avLst>
              <a:gd name="adj" fmla="val 925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72" name="Text 68"/>
          <p:cNvSpPr txBox="1"/>
          <p:nvPr/>
        </p:nvSpPr>
        <p:spPr>
          <a:xfrm>
            <a:off x="1097280" y="7223760"/>
            <a:ext cx="34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100" dirty="0"/>
          </a:p>
        </p:txBody>
      </p:sp>
      <p:sp>
        <p:nvSpPr>
          <p:cNvPr id="73" name="Text 69"/>
          <p:cNvSpPr txBox="1"/>
          <p:nvPr/>
        </p:nvSpPr>
        <p:spPr>
          <a:xfrm>
            <a:off x="1097280" y="7470648"/>
            <a:ext cx="34404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CSV/JSON/manual or AI-generate a level-wise test in minutes; offline reviewed AYUSH question bank.</a:t>
            </a:r>
            <a:endParaRPr lang="en-US" sz="1200" dirty="0"/>
          </a:p>
        </p:txBody>
      </p:sp>
      <p:sp>
        <p:nvSpPr>
          <p:cNvPr id="74" name="Shape 70"/>
          <p:cNvSpPr/>
          <p:nvPr/>
        </p:nvSpPr>
        <p:spPr>
          <a:xfrm>
            <a:off x="5040630" y="6080760"/>
            <a:ext cx="398907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5177790" y="6208776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5177790" y="6208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77" name="Text 73"/>
          <p:cNvSpPr txBox="1"/>
          <p:nvPr/>
        </p:nvSpPr>
        <p:spPr>
          <a:xfrm>
            <a:off x="5698998" y="6172200"/>
            <a:ext cx="2205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Low-end laptops &amp; weak internet</a:t>
            </a:r>
            <a:endParaRPr lang="en-US" sz="1400" dirty="0"/>
          </a:p>
        </p:txBody>
      </p:sp>
      <p:sp>
        <p:nvSpPr>
          <p:cNvPr id="78" name="Shape 74"/>
          <p:cNvSpPr/>
          <p:nvPr/>
        </p:nvSpPr>
        <p:spPr>
          <a:xfrm>
            <a:off x="7932420" y="62636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7932420" y="6263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050" dirty="0"/>
          </a:p>
        </p:txBody>
      </p:sp>
      <p:sp>
        <p:nvSpPr>
          <p:cNvPr id="80" name="Text 76"/>
          <p:cNvSpPr txBox="1"/>
          <p:nvPr/>
        </p:nvSpPr>
        <p:spPr>
          <a:xfrm>
            <a:off x="5223510" y="6702552"/>
            <a:ext cx="3623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AI or a dropped connection can break an online test.</a:t>
            </a:r>
            <a:endParaRPr lang="en-US" sz="1200" dirty="0"/>
          </a:p>
        </p:txBody>
      </p:sp>
      <p:sp>
        <p:nvSpPr>
          <p:cNvPr id="81" name="Shape 77"/>
          <p:cNvSpPr/>
          <p:nvPr/>
        </p:nvSpPr>
        <p:spPr>
          <a:xfrm>
            <a:off x="5177790" y="7178040"/>
            <a:ext cx="3714750" cy="987552"/>
          </a:xfrm>
          <a:prstGeom prst="roundRect">
            <a:avLst>
              <a:gd name="adj" fmla="val 925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5314950" y="7223760"/>
            <a:ext cx="34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100" dirty="0"/>
          </a:p>
        </p:txBody>
      </p:sp>
      <p:sp>
        <p:nvSpPr>
          <p:cNvPr id="83" name="Text 79"/>
          <p:cNvSpPr txBox="1"/>
          <p:nvPr/>
        </p:nvSpPr>
        <p:spPr>
          <a:xfrm>
            <a:off x="5314950" y="7470648"/>
            <a:ext cx="34404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AI frame rate, heartbeat autosave, server-side timer and resume with the attempt recorded.</a:t>
            </a:r>
            <a:endParaRPr lang="en-US" sz="1200" dirty="0"/>
          </a:p>
        </p:txBody>
      </p:sp>
      <p:sp>
        <p:nvSpPr>
          <p:cNvPr id="84" name="Shape 80"/>
          <p:cNvSpPr/>
          <p:nvPr/>
        </p:nvSpPr>
        <p:spPr>
          <a:xfrm>
            <a:off x="9258300" y="6080760"/>
            <a:ext cx="398907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5" name="Shape 81"/>
          <p:cNvSpPr/>
          <p:nvPr/>
        </p:nvSpPr>
        <p:spPr>
          <a:xfrm>
            <a:off x="9395460" y="6208776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9395460" y="6208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87" name="Text 83"/>
          <p:cNvSpPr txBox="1"/>
          <p:nvPr/>
        </p:nvSpPr>
        <p:spPr>
          <a:xfrm>
            <a:off x="9916668" y="6172200"/>
            <a:ext cx="2205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MCQs can’t prove clinical skill</a:t>
            </a:r>
            <a:endParaRPr lang="en-US" sz="1400" dirty="0"/>
          </a:p>
        </p:txBody>
      </p:sp>
      <p:sp>
        <p:nvSpPr>
          <p:cNvPr id="88" name="Shape 84"/>
          <p:cNvSpPr/>
          <p:nvPr/>
        </p:nvSpPr>
        <p:spPr>
          <a:xfrm>
            <a:off x="12150090" y="62636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12150090" y="6263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50" dirty="0"/>
          </a:p>
        </p:txBody>
      </p:sp>
      <p:sp>
        <p:nvSpPr>
          <p:cNvPr id="90" name="Text 86"/>
          <p:cNvSpPr txBox="1"/>
          <p:nvPr/>
        </p:nvSpPr>
        <p:spPr>
          <a:xfrm>
            <a:off x="9441180" y="6702552"/>
            <a:ext cx="3623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quiz cannot show a student can treat a patient.</a:t>
            </a:r>
            <a:endParaRPr lang="en-US" sz="1200" dirty="0"/>
          </a:p>
        </p:txBody>
      </p:sp>
      <p:sp>
        <p:nvSpPr>
          <p:cNvPr id="91" name="Shape 87"/>
          <p:cNvSpPr/>
          <p:nvPr/>
        </p:nvSpPr>
        <p:spPr>
          <a:xfrm>
            <a:off x="9395460" y="7178040"/>
            <a:ext cx="3714750" cy="987552"/>
          </a:xfrm>
          <a:prstGeom prst="roundRect">
            <a:avLst>
              <a:gd name="adj" fmla="val 925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9532620" y="7223760"/>
            <a:ext cx="34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100" dirty="0"/>
          </a:p>
        </p:txBody>
      </p:sp>
      <p:sp>
        <p:nvSpPr>
          <p:cNvPr id="93" name="Text 89"/>
          <p:cNvSpPr txBox="1"/>
          <p:nvPr/>
        </p:nvSpPr>
        <p:spPr>
          <a:xfrm>
            <a:off x="9532620" y="7470648"/>
            <a:ext cx="34404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Proctored theory + mentor feedback today; clinic-observed Guru-Shishya endorsements next.</a:t>
            </a:r>
            <a:endParaRPr lang="en-US" sz="1200" dirty="0"/>
          </a:p>
        </p:txBody>
      </p:sp>
      <p:sp>
        <p:nvSpPr>
          <p:cNvPr id="94" name="Shape 90"/>
          <p:cNvSpPr/>
          <p:nvPr/>
        </p:nvSpPr>
        <p:spPr>
          <a:xfrm>
            <a:off x="13475970" y="6080760"/>
            <a:ext cx="398907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5" name="Shape 91"/>
          <p:cNvSpPr/>
          <p:nvPr/>
        </p:nvSpPr>
        <p:spPr>
          <a:xfrm>
            <a:off x="13613130" y="6208776"/>
            <a:ext cx="420624" cy="420624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13613130" y="6208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97" name="Text 93"/>
          <p:cNvSpPr txBox="1"/>
          <p:nvPr/>
        </p:nvSpPr>
        <p:spPr>
          <a:xfrm>
            <a:off x="14134338" y="6172200"/>
            <a:ext cx="22059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certificates</a:t>
            </a:r>
            <a:endParaRPr lang="en-US" sz="1400" dirty="0"/>
          </a:p>
        </p:txBody>
      </p:sp>
      <p:sp>
        <p:nvSpPr>
          <p:cNvPr id="98" name="Shape 94"/>
          <p:cNvSpPr/>
          <p:nvPr/>
        </p:nvSpPr>
        <p:spPr>
          <a:xfrm>
            <a:off x="16367760" y="62636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16367760" y="6263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50" dirty="0"/>
          </a:p>
        </p:txBody>
      </p:sp>
      <p:sp>
        <p:nvSpPr>
          <p:cNvPr id="100" name="Text 96"/>
          <p:cNvSpPr txBox="1"/>
          <p:nvPr/>
        </p:nvSpPr>
        <p:spPr>
          <a:xfrm>
            <a:off x="13658850" y="6702552"/>
            <a:ext cx="3623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upload unverified certificates.</a:t>
            </a:r>
            <a:endParaRPr lang="en-US" sz="1200" dirty="0"/>
          </a:p>
        </p:txBody>
      </p:sp>
      <p:sp>
        <p:nvSpPr>
          <p:cNvPr id="101" name="Shape 97"/>
          <p:cNvSpPr/>
          <p:nvPr/>
        </p:nvSpPr>
        <p:spPr>
          <a:xfrm>
            <a:off x="13613130" y="7178040"/>
            <a:ext cx="3714750" cy="987552"/>
          </a:xfrm>
          <a:prstGeom prst="roundRect">
            <a:avLst>
              <a:gd name="adj" fmla="val 925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102" name="Text 98"/>
          <p:cNvSpPr txBox="1"/>
          <p:nvPr/>
        </p:nvSpPr>
        <p:spPr>
          <a:xfrm>
            <a:off x="13750290" y="7223760"/>
            <a:ext cx="3440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</a:t>
            </a:r>
            <a:endParaRPr lang="en-US" sz="1100" dirty="0"/>
          </a:p>
        </p:txBody>
      </p:sp>
      <p:sp>
        <p:nvSpPr>
          <p:cNvPr id="103" name="Text 99"/>
          <p:cNvSpPr txBox="1"/>
          <p:nvPr/>
        </p:nvSpPr>
        <p:spPr>
          <a:xfrm>
            <a:off x="13750290" y="7470648"/>
            <a:ext cx="344043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scores come only from proctored tests; DigiLocker / ABC credential verification in the next phase.</a:t>
            </a:r>
            <a:endParaRPr lang="en-US" sz="1200" dirty="0"/>
          </a:p>
        </p:txBody>
      </p:sp>
      <p:sp>
        <p:nvSpPr>
          <p:cNvPr id="104" name="Text 100"/>
          <p:cNvSpPr txBox="1"/>
          <p:nvPr/>
        </p:nvSpPr>
        <p:spPr>
          <a:xfrm>
            <a:off x="868680" y="8485632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EXECUTION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600" dirty="0"/>
          </a:p>
        </p:txBody>
      </p:sp>
      <p:sp>
        <p:nvSpPr>
          <p:cNvPr id="105" name="Text 101"/>
          <p:cNvSpPr txBox="1"/>
          <p:nvPr/>
        </p:nvSpPr>
        <p:spPr>
          <a:xfrm>
            <a:off x="3611880" y="8394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8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✓</a:t>
            </a:r>
            <a:endParaRPr lang="en-US" sz="2000" dirty="0"/>
          </a:p>
        </p:txBody>
      </p:sp>
      <p:sp>
        <p:nvSpPr>
          <p:cNvPr id="106" name="Text 102"/>
          <p:cNvSpPr txBox="1"/>
          <p:nvPr/>
        </p:nvSpPr>
        <p:spPr>
          <a:xfrm>
            <a:off x="3611880" y="87965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Proctored level-wise tests, profiles, AI test creation</a:t>
            </a:r>
            <a:endParaRPr lang="en-US" sz="1350" dirty="0"/>
          </a:p>
        </p:txBody>
      </p:sp>
      <p:sp>
        <p:nvSpPr>
          <p:cNvPr id="107" name="Text 103"/>
          <p:cNvSpPr txBox="1"/>
          <p:nvPr/>
        </p:nvSpPr>
        <p:spPr>
          <a:xfrm>
            <a:off x="6720840" y="8503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8" name="Text 104"/>
          <p:cNvSpPr txBox="1"/>
          <p:nvPr/>
        </p:nvSpPr>
        <p:spPr>
          <a:xfrm>
            <a:off x="7040880" y="8394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000" dirty="0"/>
          </a:p>
        </p:txBody>
      </p:sp>
      <p:sp>
        <p:nvSpPr>
          <p:cNvPr id="109" name="Text 105"/>
          <p:cNvSpPr txBox="1"/>
          <p:nvPr/>
        </p:nvSpPr>
        <p:spPr>
          <a:xfrm>
            <a:off x="7040880" y="87965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onboarding, matching + applications</a:t>
            </a:r>
            <a:endParaRPr lang="en-US" sz="1350" dirty="0"/>
          </a:p>
        </p:txBody>
      </p:sp>
      <p:sp>
        <p:nvSpPr>
          <p:cNvPr id="110" name="Text 106"/>
          <p:cNvSpPr txBox="1"/>
          <p:nvPr/>
        </p:nvSpPr>
        <p:spPr>
          <a:xfrm>
            <a:off x="10149840" y="8503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1" name="Text 107"/>
          <p:cNvSpPr txBox="1"/>
          <p:nvPr/>
        </p:nvSpPr>
        <p:spPr>
          <a:xfrm>
            <a:off x="10469880" y="8394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2000" dirty="0"/>
          </a:p>
        </p:txBody>
      </p:sp>
      <p:sp>
        <p:nvSpPr>
          <p:cNvPr id="112" name="Text 108"/>
          <p:cNvSpPr txBox="1"/>
          <p:nvPr/>
        </p:nvSpPr>
        <p:spPr>
          <a:xfrm>
            <a:off x="10469880" y="87965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DigiLocker/ABC verification, mentor endorsements</a:t>
            </a:r>
            <a:endParaRPr lang="en-US" sz="1350" dirty="0"/>
          </a:p>
        </p:txBody>
      </p:sp>
      <p:sp>
        <p:nvSpPr>
          <p:cNvPr id="113" name="Text 109"/>
          <p:cNvSpPr txBox="1"/>
          <p:nvPr/>
        </p:nvSpPr>
        <p:spPr>
          <a:xfrm>
            <a:off x="13578840" y="8503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4" name="Text 110"/>
          <p:cNvSpPr txBox="1"/>
          <p:nvPr/>
        </p:nvSpPr>
        <p:spPr>
          <a:xfrm>
            <a:off x="13898880" y="83941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000" dirty="0"/>
          </a:p>
        </p:txBody>
      </p:sp>
      <p:sp>
        <p:nvSpPr>
          <p:cNvPr id="115" name="Text 111"/>
          <p:cNvSpPr txBox="1"/>
          <p:nvPr/>
        </p:nvSpPr>
        <p:spPr>
          <a:xfrm>
            <a:off x="13898880" y="87965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lockdown desktop client, more languages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3b48ef2-96cd-543d-88a0-c23a639d3fc8/scratchpad/ref/assets/tene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2834640" cy="823066"/>
          </a:xfrm>
          <a:prstGeom prst="rect">
            <a:avLst/>
          </a:prstGeom>
        </p:spPr>
      </p:pic>
      <p:pic>
        <p:nvPicPr>
          <p:cNvPr id="3" name="Image 1" descr="/tmp/claude-0/-home-claude/93b48ef2-96cd-543d-88a0-c23a639d3fc8/scratchpad/ref/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680" y="73152"/>
            <a:ext cx="3337560" cy="15765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40480" y="640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9710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AYUSH-SETU  |  PS ID 26044  |  Team Tenet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17007840" y="9710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502920" y="1783080"/>
            <a:ext cx="17282160" cy="7818120"/>
          </a:xfrm>
          <a:prstGeom prst="roundRect">
            <a:avLst>
              <a:gd name="adj" fmla="val 5263"/>
            </a:avLst>
          </a:prstGeom>
          <a:solidFill>
            <a:srgbClr val="FFF4E0"/>
          </a:solidFill>
          <a:ln w="12700">
            <a:solidFill>
              <a:srgbClr val="F1DFC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1874520"/>
            <a:ext cx="1664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SKILL VISIBILITY TO EMPLOYABILITY OUTCOMES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822960" y="2560320"/>
            <a:ext cx="398907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005840" y="2724912"/>
            <a:ext cx="658368" cy="658368"/>
          </a:xfrm>
          <a:prstGeom prst="ellipse">
            <a:avLst/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88950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810512" y="2724912"/>
            <a:ext cx="28917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900" dirty="0"/>
          </a:p>
        </p:txBody>
      </p:sp>
      <p:sp>
        <p:nvSpPr>
          <p:cNvPr id="13" name="Text 8"/>
          <p:cNvSpPr txBox="1"/>
          <p:nvPr/>
        </p:nvSpPr>
        <p:spPr>
          <a:xfrm>
            <a:off x="1051560" y="3520440"/>
            <a:ext cx="35775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NSQF level evidence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practice tests for every unlocked level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skill gaps &amp; PDF report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internships &amp; jobs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5040630" y="2560320"/>
            <a:ext cx="398907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223510" y="2724912"/>
            <a:ext cx="658368" cy="658368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102" y="288950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028182" y="2724912"/>
            <a:ext cx="28917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5269230" y="3520440"/>
            <a:ext cx="35775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Shortlists from proctored scores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own level-wise tests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proctoring with evidence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fairer hiring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9258300" y="2560320"/>
            <a:ext cx="398907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441180" y="2724912"/>
            <a:ext cx="658368" cy="658368"/>
          </a:xfrm>
          <a:prstGeom prst="ellipse">
            <a:avLst/>
          </a:prstGeom>
          <a:solidFill>
            <a:srgbClr val="2369A0"/>
          </a:solidFill>
          <a:ln w="12700">
            <a:solidFill>
              <a:srgbClr val="2369A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772" y="2889504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245852" y="2724912"/>
            <a:ext cx="28917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ACADEMICIANS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486900" y="3520440"/>
            <a:ext cx="35775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tests in minutes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&amp; feedback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hub &amp; FDP access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insight from gaps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13475970" y="2560320"/>
            <a:ext cx="3989070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3658850" y="2724912"/>
            <a:ext cx="658368" cy="658368"/>
          </a:xfrm>
          <a:prstGeom prst="ellipse">
            <a:avLst/>
          </a:prstGeom>
          <a:solidFill>
            <a:srgbClr val="645096"/>
          </a:solidFill>
          <a:ln w="12700">
            <a:solidFill>
              <a:srgbClr val="645096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23442" y="2889504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4463522" y="2724912"/>
            <a:ext cx="289179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13704570" y="3520440"/>
            <a:ext cx="357759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online exams at scale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dashboards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Flagged-attempt reports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outcome tracking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868680" y="5285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4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FLYWHEEL</a:t>
            </a:r>
            <a:endParaRPr lang="en-US" sz="1700" dirty="0"/>
          </a:p>
        </p:txBody>
      </p:sp>
      <p:sp>
        <p:nvSpPr>
          <p:cNvPr id="30" name="Shape 22"/>
          <p:cNvSpPr/>
          <p:nvPr/>
        </p:nvSpPr>
        <p:spPr>
          <a:xfrm>
            <a:off x="822960" y="5715000"/>
            <a:ext cx="1865376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25400">
            <a:solidFill>
              <a:srgbClr val="20845A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22960" y="57881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08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914400" y="62453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capability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2688336" y="6080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26"/>
          <p:cNvSpPr/>
          <p:nvPr/>
        </p:nvSpPr>
        <p:spPr>
          <a:xfrm>
            <a:off x="3008376" y="5715000"/>
            <a:ext cx="1865376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25400">
            <a:solidFill>
              <a:srgbClr val="E77E22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3008376" y="57881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1900" dirty="0"/>
          </a:p>
        </p:txBody>
      </p:sp>
      <p:sp>
        <p:nvSpPr>
          <p:cNvPr id="36" name="Text 28"/>
          <p:cNvSpPr txBox="1"/>
          <p:nvPr/>
        </p:nvSpPr>
        <p:spPr>
          <a:xfrm>
            <a:off x="3099816" y="62453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proctored tests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4873752" y="6080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0"/>
          <p:cNvSpPr/>
          <p:nvPr/>
        </p:nvSpPr>
        <p:spPr>
          <a:xfrm>
            <a:off x="5193792" y="5715000"/>
            <a:ext cx="1865376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25400">
            <a:solidFill>
              <a:srgbClr val="2369A0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193792" y="57881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900" dirty="0"/>
          </a:p>
        </p:txBody>
      </p:sp>
      <p:sp>
        <p:nvSpPr>
          <p:cNvPr id="40" name="Text 32"/>
          <p:cNvSpPr txBox="1"/>
          <p:nvPr/>
        </p:nvSpPr>
        <p:spPr>
          <a:xfrm>
            <a:off x="5285232" y="62453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skill gaps</a:t>
            </a:r>
            <a:endParaRPr lang="en-US" sz="1300" dirty="0"/>
          </a:p>
        </p:txBody>
      </p:sp>
      <p:sp>
        <p:nvSpPr>
          <p:cNvPr id="41" name="Text 33"/>
          <p:cNvSpPr txBox="1"/>
          <p:nvPr/>
        </p:nvSpPr>
        <p:spPr>
          <a:xfrm>
            <a:off x="7059168" y="6080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2" name="Shape 34"/>
          <p:cNvSpPr/>
          <p:nvPr/>
        </p:nvSpPr>
        <p:spPr>
          <a:xfrm>
            <a:off x="7379208" y="5715000"/>
            <a:ext cx="1865376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25400">
            <a:solidFill>
              <a:srgbClr val="645096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7379208" y="57881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45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900" dirty="0"/>
          </a:p>
        </p:txBody>
      </p:sp>
      <p:sp>
        <p:nvSpPr>
          <p:cNvPr id="44" name="Text 36"/>
          <p:cNvSpPr txBox="1"/>
          <p:nvPr/>
        </p:nvSpPr>
        <p:spPr>
          <a:xfrm>
            <a:off x="7470648" y="62453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opportunities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9244584" y="60807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6" name="Shape 38"/>
          <p:cNvSpPr/>
          <p:nvPr/>
        </p:nvSpPr>
        <p:spPr>
          <a:xfrm>
            <a:off x="9564624" y="5715000"/>
            <a:ext cx="1865376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9564624" y="5788152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900" dirty="0"/>
          </a:p>
        </p:txBody>
      </p:sp>
      <p:sp>
        <p:nvSpPr>
          <p:cNvPr id="48" name="Text 40"/>
          <p:cNvSpPr txBox="1"/>
          <p:nvPr/>
        </p:nvSpPr>
        <p:spPr>
          <a:xfrm>
            <a:off x="9656064" y="6245352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outcomes</a:t>
            </a:r>
            <a:endParaRPr lang="en-US" sz="1300" dirty="0"/>
          </a:p>
        </p:txBody>
      </p:sp>
      <p:sp>
        <p:nvSpPr>
          <p:cNvPr id="49" name="Shape 41"/>
          <p:cNvSpPr/>
          <p:nvPr/>
        </p:nvSpPr>
        <p:spPr>
          <a:xfrm>
            <a:off x="822960" y="7269480"/>
            <a:ext cx="248031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Text 42"/>
          <p:cNvSpPr txBox="1"/>
          <p:nvPr/>
        </p:nvSpPr>
        <p:spPr>
          <a:xfrm>
            <a:off x="822960" y="7360920"/>
            <a:ext cx="24803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084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000" dirty="0"/>
          </a:p>
        </p:txBody>
      </p:sp>
      <p:sp>
        <p:nvSpPr>
          <p:cNvPr id="51" name="Text 43"/>
          <p:cNvSpPr txBox="1"/>
          <p:nvPr/>
        </p:nvSpPr>
        <p:spPr>
          <a:xfrm>
            <a:off x="1005840" y="8430768"/>
            <a:ext cx="21145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NSQF levels on one roadmap</a:t>
            </a:r>
            <a:endParaRPr lang="en-US" sz="1400" dirty="0"/>
          </a:p>
        </p:txBody>
      </p:sp>
      <p:sp>
        <p:nvSpPr>
          <p:cNvPr id="52" name="Shape 44"/>
          <p:cNvSpPr/>
          <p:nvPr/>
        </p:nvSpPr>
        <p:spPr>
          <a:xfrm>
            <a:off x="3531870" y="7269480"/>
            <a:ext cx="248031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3" name="Text 45"/>
          <p:cNvSpPr txBox="1"/>
          <p:nvPr/>
        </p:nvSpPr>
        <p:spPr>
          <a:xfrm>
            <a:off x="3531870" y="7360920"/>
            <a:ext cx="24803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6000" dirty="0"/>
          </a:p>
        </p:txBody>
      </p:sp>
      <p:sp>
        <p:nvSpPr>
          <p:cNvPr id="54" name="Text 46"/>
          <p:cNvSpPr txBox="1"/>
          <p:nvPr/>
        </p:nvSpPr>
        <p:spPr>
          <a:xfrm>
            <a:off x="3714750" y="8430768"/>
            <a:ext cx="21145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signals per proctored test</a:t>
            </a:r>
            <a:endParaRPr lang="en-US" sz="1400" dirty="0"/>
          </a:p>
        </p:txBody>
      </p:sp>
      <p:sp>
        <p:nvSpPr>
          <p:cNvPr id="55" name="Shape 47"/>
          <p:cNvSpPr/>
          <p:nvPr/>
        </p:nvSpPr>
        <p:spPr>
          <a:xfrm>
            <a:off x="6240780" y="7269480"/>
            <a:ext cx="248031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Text 48"/>
          <p:cNvSpPr txBox="1"/>
          <p:nvPr/>
        </p:nvSpPr>
        <p:spPr>
          <a:xfrm>
            <a:off x="6240780" y="7360920"/>
            <a:ext cx="24803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0" dirty="0"/>
          </a:p>
        </p:txBody>
      </p:sp>
      <p:sp>
        <p:nvSpPr>
          <p:cNvPr id="57" name="Text 49"/>
          <p:cNvSpPr txBox="1"/>
          <p:nvPr/>
        </p:nvSpPr>
        <p:spPr>
          <a:xfrm>
            <a:off x="6423660" y="8430768"/>
            <a:ext cx="21145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create tests: upload or AI</a:t>
            </a:r>
            <a:endParaRPr lang="en-US" sz="1400" dirty="0"/>
          </a:p>
        </p:txBody>
      </p:sp>
      <p:sp>
        <p:nvSpPr>
          <p:cNvPr id="58" name="Shape 50"/>
          <p:cNvSpPr/>
          <p:nvPr/>
        </p:nvSpPr>
        <p:spPr>
          <a:xfrm>
            <a:off x="8949690" y="7269480"/>
            <a:ext cx="2480310" cy="210312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9" name="Text 51"/>
          <p:cNvSpPr txBox="1"/>
          <p:nvPr/>
        </p:nvSpPr>
        <p:spPr>
          <a:xfrm>
            <a:off x="8949690" y="7360920"/>
            <a:ext cx="24803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45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000" dirty="0"/>
          </a:p>
        </p:txBody>
      </p:sp>
      <p:sp>
        <p:nvSpPr>
          <p:cNvPr id="60" name="Text 52"/>
          <p:cNvSpPr txBox="1"/>
          <p:nvPr/>
        </p:nvSpPr>
        <p:spPr>
          <a:xfrm>
            <a:off x="9132570" y="8430768"/>
            <a:ext cx="21145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streams uploaded (on-device AI)</a:t>
            </a:r>
            <a:endParaRPr lang="en-US" sz="1400" dirty="0"/>
          </a:p>
        </p:txBody>
      </p:sp>
      <p:sp>
        <p:nvSpPr>
          <p:cNvPr id="61" name="Shape 53"/>
          <p:cNvSpPr/>
          <p:nvPr/>
        </p:nvSpPr>
        <p:spPr>
          <a:xfrm>
            <a:off x="11795760" y="5623560"/>
            <a:ext cx="5715000" cy="3254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2" name="Image 6" descr="/tmp/claude-0/-home-claude/93b48ef2-96cd-543d-88a0-c23a639d3fc8/scratchpad/ppt/shots/skill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1480" y="5669280"/>
            <a:ext cx="5623560" cy="3162857"/>
          </a:xfrm>
          <a:prstGeom prst="rect">
            <a:avLst/>
          </a:prstGeom>
        </p:spPr>
      </p:pic>
      <p:sp>
        <p:nvSpPr>
          <p:cNvPr id="63" name="Text 54"/>
          <p:cNvSpPr txBox="1"/>
          <p:nvPr/>
        </p:nvSpPr>
        <p:spPr>
          <a:xfrm>
            <a:off x="11841480" y="8923577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Profile: verified scores vs 70% benchmark with gap analysis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93b48ef2-96cd-543d-88a0-c23a639d3fc8/scratchpad/ref/assets/tene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2834640" cy="823066"/>
          </a:xfrm>
          <a:prstGeom prst="rect">
            <a:avLst/>
          </a:prstGeom>
        </p:spPr>
      </p:pic>
      <p:pic>
        <p:nvPicPr>
          <p:cNvPr id="3" name="Image 1" descr="/tmp/claude-0/-home-claude/93b48ef2-96cd-543d-88a0-c23a639d3fc8/scratchpad/ref/assets/sih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4680" y="73152"/>
            <a:ext cx="3337560" cy="157655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40480" y="640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52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9710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AYUSH-SETU  |  PS ID 26044  |  Team Tenet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17007840" y="9710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3840480" y="16642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7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BASIS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2240280"/>
            <a:ext cx="5303520" cy="3337560"/>
          </a:xfrm>
          <a:prstGeom prst="roundRect">
            <a:avLst>
              <a:gd name="adj" fmla="val 6027"/>
            </a:avLst>
          </a:prstGeom>
          <a:solidFill>
            <a:srgbClr val="FFF0DC"/>
          </a:solidFill>
          <a:ln w="12700">
            <a:solidFill>
              <a:srgbClr val="F1DFC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143000" y="2560320"/>
            <a:ext cx="777240" cy="777240"/>
          </a:xfrm>
          <a:prstGeom prst="ellipse">
            <a:avLst/>
          </a:prstGeom>
          <a:solidFill>
            <a:srgbClr val="20845A"/>
          </a:solidFill>
          <a:ln w="12700">
            <a:solidFill>
              <a:srgbClr val="20845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275463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03120" y="2514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– Problem Statement SIH26044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566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Ayush: Portal for Academia–Industry collaboration for Skill Mapping, Internships and Placement.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1143000" y="4846320"/>
            <a:ext cx="4663440" cy="0"/>
          </a:xfrm>
          <a:prstGeom prst="line">
            <a:avLst/>
          </a:prstGeom>
          <a:noFill/>
          <a:ln w="19050">
            <a:solidFill>
              <a:srgbClr val="F1DFC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143000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sih.gov.in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92240" y="2240280"/>
            <a:ext cx="5303520" cy="3337560"/>
          </a:xfrm>
          <a:prstGeom prst="roundRect">
            <a:avLst>
              <a:gd name="adj" fmla="val 6027"/>
            </a:avLst>
          </a:prstGeom>
          <a:solidFill>
            <a:srgbClr val="FFF0DC"/>
          </a:solidFill>
          <a:ln w="12700">
            <a:solidFill>
              <a:srgbClr val="F1DFC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812280" y="2560320"/>
            <a:ext cx="777240" cy="777240"/>
          </a:xfrm>
          <a:prstGeom prst="ellipse">
            <a:avLst/>
          </a:prstGeom>
          <a:solidFill>
            <a:srgbClr val="E77E22"/>
          </a:solidFill>
          <a:ln w="12700">
            <a:solidFill>
              <a:srgbClr val="E77E2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590" y="275463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0" y="2514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Ayush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6812280" y="3566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Ayush systems and national digital initiatives relevant to Ayush education and employment.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6812280" y="4846320"/>
            <a:ext cx="4663440" cy="0"/>
          </a:xfrm>
          <a:prstGeom prst="line">
            <a:avLst/>
          </a:prstGeom>
          <a:noFill/>
          <a:ln w="19050">
            <a:solidFill>
              <a:srgbClr val="F1DFC0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12280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ayush.gov.in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12161520" y="2240280"/>
            <a:ext cx="5303520" cy="3337560"/>
          </a:xfrm>
          <a:prstGeom prst="roundRect">
            <a:avLst>
              <a:gd name="adj" fmla="val 6027"/>
            </a:avLst>
          </a:prstGeom>
          <a:solidFill>
            <a:srgbClr val="FFF0DC"/>
          </a:solidFill>
          <a:ln w="12700">
            <a:solidFill>
              <a:srgbClr val="F1DFC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2481560" y="2560320"/>
            <a:ext cx="777240" cy="777240"/>
          </a:xfrm>
          <a:prstGeom prst="ellipse">
            <a:avLst/>
          </a:prstGeom>
          <a:solidFill>
            <a:srgbClr val="2369A0"/>
          </a:solidFill>
          <a:ln w="12700">
            <a:solidFill>
              <a:srgbClr val="2369A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5870" y="2754630"/>
            <a:ext cx="388620" cy="3886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441680" y="2514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NCVET – NSQF 2023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12481560" y="3566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NSQF notified on 6 June 2023: eight levels with descriptor domains that drive our level-wise tests.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12481560" y="4846320"/>
            <a:ext cx="4663440" cy="0"/>
          </a:xfrm>
          <a:prstGeom prst="line">
            <a:avLst/>
          </a:prstGeom>
          <a:noFill/>
          <a:ln w="19050">
            <a:solidFill>
              <a:srgbClr val="F1DFC0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2481560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ncvet.gov.in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22960" y="5852160"/>
            <a:ext cx="5303520" cy="3337560"/>
          </a:xfrm>
          <a:prstGeom prst="roundRect">
            <a:avLst>
              <a:gd name="adj" fmla="val 6027"/>
            </a:avLst>
          </a:prstGeom>
          <a:solidFill>
            <a:srgbClr val="FFF0DC"/>
          </a:solidFill>
          <a:ln w="12700">
            <a:solidFill>
              <a:srgbClr val="F1DFC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143000" y="6172200"/>
            <a:ext cx="777240" cy="777240"/>
          </a:xfrm>
          <a:prstGeom prst="ellipse">
            <a:avLst/>
          </a:prstGeom>
          <a:solidFill>
            <a:srgbClr val="645096"/>
          </a:solidFill>
          <a:ln w="12700">
            <a:solidFill>
              <a:srgbClr val="645096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7310" y="6366510"/>
            <a:ext cx="388620" cy="3886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103120" y="6126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HSSC &amp; National Qualifications Register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1143000" y="7178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qualification packs, e.g. Panchakarma Technician (HSS/Q3601, NSQF Level 4), used as the skill taxonomy.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1143000" y="8458200"/>
            <a:ext cx="4663440" cy="0"/>
          </a:xfrm>
          <a:prstGeom prst="line">
            <a:avLst/>
          </a:prstGeom>
          <a:noFill/>
          <a:ln w="19050">
            <a:solidFill>
              <a:srgbClr val="F1DFC0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1143000" y="8549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healthcare-ssc.in · nqr.gov.in</a:t>
            </a:r>
            <a:endParaRPr lang="en-US" sz="1600" dirty="0"/>
          </a:p>
        </p:txBody>
      </p:sp>
      <p:sp>
        <p:nvSpPr>
          <p:cNvPr id="36" name="Shape 28"/>
          <p:cNvSpPr/>
          <p:nvPr/>
        </p:nvSpPr>
        <p:spPr>
          <a:xfrm>
            <a:off x="6492240" y="5852160"/>
            <a:ext cx="5303520" cy="3337560"/>
          </a:xfrm>
          <a:prstGeom prst="roundRect">
            <a:avLst>
              <a:gd name="adj" fmla="val 6027"/>
            </a:avLst>
          </a:prstGeom>
          <a:solidFill>
            <a:srgbClr val="FFF0DC"/>
          </a:solidFill>
          <a:ln w="12700">
            <a:solidFill>
              <a:srgbClr val="F1DFC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812280" y="6172200"/>
            <a:ext cx="777240" cy="7772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6366510"/>
            <a:ext cx="388620" cy="38862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772400" y="6126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DigiLocker</a:t>
            </a:r>
            <a:endParaRPr lang="en-US" sz="2000" dirty="0"/>
          </a:p>
        </p:txBody>
      </p:sp>
      <p:sp>
        <p:nvSpPr>
          <p:cNvPr id="40" name="Text 31"/>
          <p:cNvSpPr txBox="1"/>
          <p:nvPr/>
        </p:nvSpPr>
        <p:spPr>
          <a:xfrm>
            <a:off x="6812280" y="7178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digital credentials — portfolio KYC today, certificate verification in the next phase.</a:t>
            </a:r>
            <a:endParaRPr lang="en-US" sz="1600" dirty="0"/>
          </a:p>
        </p:txBody>
      </p:sp>
      <p:sp>
        <p:nvSpPr>
          <p:cNvPr id="41" name="Shape 32"/>
          <p:cNvSpPr/>
          <p:nvPr/>
        </p:nvSpPr>
        <p:spPr>
          <a:xfrm>
            <a:off x="6812280" y="8458200"/>
            <a:ext cx="4663440" cy="0"/>
          </a:xfrm>
          <a:prstGeom prst="line">
            <a:avLst/>
          </a:prstGeom>
          <a:noFill/>
          <a:ln w="19050">
            <a:solidFill>
              <a:srgbClr val="F1DFC0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812280" y="8549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digilocker.gov.in</a:t>
            </a:r>
            <a:endParaRPr lang="en-US" sz="1600" dirty="0"/>
          </a:p>
        </p:txBody>
      </p:sp>
      <p:sp>
        <p:nvSpPr>
          <p:cNvPr id="43" name="Shape 34"/>
          <p:cNvSpPr/>
          <p:nvPr/>
        </p:nvSpPr>
        <p:spPr>
          <a:xfrm>
            <a:off x="12161520" y="5852160"/>
            <a:ext cx="5303520" cy="3337560"/>
          </a:xfrm>
          <a:prstGeom prst="roundRect">
            <a:avLst>
              <a:gd name="adj" fmla="val 6027"/>
            </a:avLst>
          </a:prstGeom>
          <a:solidFill>
            <a:srgbClr val="FFF0DC"/>
          </a:solidFill>
          <a:ln w="12700">
            <a:solidFill>
              <a:srgbClr val="F1DFC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12481560" y="6172200"/>
            <a:ext cx="777240" cy="7772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75870" y="6366510"/>
            <a:ext cx="388620" cy="38862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3441680" y="6126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28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&amp; Web APIs</a:t>
            </a:r>
            <a:endParaRPr lang="en-US" sz="2000" dirty="0"/>
          </a:p>
        </p:txBody>
      </p:sp>
      <p:sp>
        <p:nvSpPr>
          <p:cNvPr id="47" name="Text 37"/>
          <p:cNvSpPr txBox="1"/>
          <p:nvPr/>
        </p:nvSpPr>
        <p:spPr>
          <a:xfrm>
            <a:off x="12481560" y="71780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F6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(TensorFlow.js) face, anti-spoofing and object models; Screen Capture &amp; Window Management APIs.</a:t>
            </a:r>
            <a:endParaRPr lang="en-US" sz="1600" dirty="0"/>
          </a:p>
        </p:txBody>
      </p:sp>
      <p:sp>
        <p:nvSpPr>
          <p:cNvPr id="48" name="Shape 38"/>
          <p:cNvSpPr/>
          <p:nvPr/>
        </p:nvSpPr>
        <p:spPr>
          <a:xfrm>
            <a:off x="12481560" y="8458200"/>
            <a:ext cx="4663440" cy="0"/>
          </a:xfrm>
          <a:prstGeom prst="line">
            <a:avLst/>
          </a:prstGeom>
          <a:noFill/>
          <a:ln w="19050">
            <a:solidFill>
              <a:srgbClr val="F1DFC0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12481560" y="8549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6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github.com/vladmandic/human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AYUSH-SETU — SIH 2026 — Team Tenet</dc:title>
  <dc:subject>PptxGenJS Presentation</dc:subject>
  <dc:creator>PptxGenJS</dc:creator>
  <cp:lastModifiedBy>PptxGenJS</cp:lastModifiedBy>
  <cp:revision>1</cp:revision>
  <dcterms:created xsi:type="dcterms:W3CDTF">2026-09-16T10:24:28Z</dcterms:created>
  <dcterms:modified xsi:type="dcterms:W3CDTF">2026-09-16T10:24:28Z</dcterms:modified>
</cp:coreProperties>
</file>